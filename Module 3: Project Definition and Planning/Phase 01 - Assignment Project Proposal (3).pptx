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62" r:id="rId6"/>
    <p:sldId id="263" r:id="rId7"/>
    <p:sldId id="266" r:id="rId8"/>
    <p:sldId id="267" r:id="rId9"/>
    <p:sldId id="268" r:id="rId10"/>
    <p:sldId id="269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Cortez" userId="6a3c573f6a8123c6" providerId="LiveId" clId="{2FA40542-1123-40CF-821A-8B1992A1367C}"/>
    <pc:docChg chg="custSel delSld modSld">
      <pc:chgData name="Oscar Cortez" userId="6a3c573f6a8123c6" providerId="LiveId" clId="{2FA40542-1123-40CF-821A-8B1992A1367C}" dt="2025-09-09T14:44:59.785" v="108" actId="207"/>
      <pc:docMkLst>
        <pc:docMk/>
      </pc:docMkLst>
      <pc:sldChg chg="modSp mod">
        <pc:chgData name="Oscar Cortez" userId="6a3c573f6a8123c6" providerId="LiveId" clId="{2FA40542-1123-40CF-821A-8B1992A1367C}" dt="2025-09-09T14:44:59.785" v="108" actId="207"/>
        <pc:sldMkLst>
          <pc:docMk/>
          <pc:sldMk cId="0" sldId="256"/>
        </pc:sldMkLst>
        <pc:spChg chg="mod">
          <ac:chgData name="Oscar Cortez" userId="6a3c573f6a8123c6" providerId="LiveId" clId="{2FA40542-1123-40CF-821A-8B1992A1367C}" dt="2025-09-09T14:44:59.785" v="108" actId="20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Oscar Cortez" userId="6a3c573f6a8123c6" providerId="LiveId" clId="{2FA40542-1123-40CF-821A-8B1992A1367C}" dt="2025-09-08T00:55:05.876" v="98" actId="2696"/>
        <pc:sldMkLst>
          <pc:docMk/>
          <pc:sldMk cId="0" sldId="258"/>
        </pc:sldMkLst>
      </pc:sldChg>
      <pc:sldChg chg="del">
        <pc:chgData name="Oscar Cortez" userId="6a3c573f6a8123c6" providerId="LiveId" clId="{2FA40542-1123-40CF-821A-8B1992A1367C}" dt="2025-09-08T00:55:25.383" v="99" actId="2696"/>
        <pc:sldMkLst>
          <pc:docMk/>
          <pc:sldMk cId="0" sldId="260"/>
        </pc:sldMkLst>
      </pc:sldChg>
      <pc:sldChg chg="modSp del mod">
        <pc:chgData name="Oscar Cortez" userId="6a3c573f6a8123c6" providerId="LiveId" clId="{2FA40542-1123-40CF-821A-8B1992A1367C}" dt="2025-09-08T00:51:17.473" v="96" actId="2696"/>
        <pc:sldMkLst>
          <pc:docMk/>
          <pc:sldMk cId="0" sldId="264"/>
        </pc:sldMkLst>
        <pc:graphicFrameChg chg="mod modGraphic">
          <ac:chgData name="Oscar Cortez" userId="6a3c573f6a8123c6" providerId="LiveId" clId="{2FA40542-1123-40CF-821A-8B1992A1367C}" dt="2025-09-08T00:47:24.985" v="95" actId="20577"/>
          <ac:graphicFrameMkLst>
            <pc:docMk/>
            <pc:sldMk cId="0" sldId="264"/>
            <ac:graphicFrameMk id="3" creationId="{00000000-0000-0000-0000-000000000000}"/>
          </ac:graphicFrameMkLst>
        </pc:graphicFrameChg>
      </pc:sldChg>
      <pc:sldChg chg="del">
        <pc:chgData name="Oscar Cortez" userId="6a3c573f6a8123c6" providerId="LiveId" clId="{2FA40542-1123-40CF-821A-8B1992A1367C}" dt="2025-09-08T00:54:46.291" v="97" actId="2696"/>
        <pc:sldMkLst>
          <pc:docMk/>
          <pc:sldMk cId="0" sldId="265"/>
        </pc:sldMkLst>
      </pc:sldChg>
      <pc:sldChg chg="modSp mod">
        <pc:chgData name="Oscar Cortez" userId="6a3c573f6a8123c6" providerId="LiveId" clId="{2FA40542-1123-40CF-821A-8B1992A1367C}" dt="2025-09-07T22:47:04.123" v="7" actId="20577"/>
        <pc:sldMkLst>
          <pc:docMk/>
          <pc:sldMk cId="0" sldId="269"/>
        </pc:sldMkLst>
        <pc:spChg chg="mod">
          <ac:chgData name="Oscar Cortez" userId="6a3c573f6a8123c6" providerId="LiveId" clId="{2FA40542-1123-40CF-821A-8B1992A1367C}" dt="2025-09-07T22:47:04.123" v="7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Oscar Cortez" userId="6a3c573f6a8123c6" providerId="LiveId" clId="{2FA40542-1123-40CF-821A-8B1992A1367C}" dt="2025-09-08T00:56:56.304" v="102" actId="20577"/>
        <pc:sldMkLst>
          <pc:docMk/>
          <pc:sldMk cId="0" sldId="270"/>
        </pc:sldMkLst>
        <pc:spChg chg="mod">
          <ac:chgData name="Oscar Cortez" userId="6a3c573f6a8123c6" providerId="LiveId" clId="{2FA40542-1123-40CF-821A-8B1992A1367C}" dt="2025-09-08T00:56:56.304" v="102" actId="20577"/>
          <ac:spMkLst>
            <pc:docMk/>
            <pc:sldMk cId="0" sldId="270"/>
            <ac:spMk id="3" creationId="{00000000-0000-0000-0000-000000000000}"/>
          </ac:spMkLst>
        </pc:spChg>
      </pc:sldChg>
      <pc:sldChg chg="del">
        <pc:chgData name="Oscar Cortez" userId="6a3c573f6a8123c6" providerId="LiveId" clId="{2FA40542-1123-40CF-821A-8B1992A1367C}" dt="2025-09-08T00:55:44.934" v="100" actId="2696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700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64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8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48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4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2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09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881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21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3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69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8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3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738" y="976556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AI Course Copilot: RAG-Powered Study &amp; Project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62654"/>
            <a:ext cx="6400800" cy="1752600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Phase 01 – Project Proposal </a:t>
            </a:r>
            <a:endParaRPr lang="en-US" dirty="0"/>
          </a:p>
          <a:p>
            <a:r>
              <a:rPr dirty="0"/>
              <a:t>Course: TAI-2277 Artificial Intelligence Resource</a:t>
            </a:r>
          </a:p>
          <a:p>
            <a:r>
              <a:rPr dirty="0"/>
              <a:t>Option B: Student-Proposed Project</a:t>
            </a:r>
          </a:p>
          <a:p>
            <a:r>
              <a:rPr dirty="0"/>
              <a:t>Team: • Oscar Cortez • </a:t>
            </a:r>
            <a:r>
              <a:rPr lang="en-US" dirty="0"/>
              <a:t>Judith Barrios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•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a Sans"/>
                <a:ea typeface="+mn-ea"/>
                <a:cs typeface="+mn-cs"/>
              </a:rPr>
              <a:t>Ruben Valenzuela Alvarado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  <a:lumOff val="25000"/>
                  </a:srgbClr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•</a:t>
            </a:r>
            <a:r>
              <a:rPr lang="en-US" dirty="0"/>
              <a:t> </a:t>
            </a:r>
            <a:r>
              <a:rPr lang="en-US" b="0" i="0" dirty="0">
                <a:solidFill>
                  <a:schemeClr val="tx1"/>
                </a:solidFill>
                <a:effectLst/>
                <a:latin typeface="Mona Sans"/>
              </a:rPr>
              <a:t>Darnell Newman</a:t>
            </a:r>
            <a:endParaRPr lang="en-US" dirty="0">
              <a:solidFill>
                <a:schemeClr val="tx1"/>
              </a:solidFill>
            </a:endParaRPr>
          </a:p>
          <a:p>
            <a:r>
              <a:rPr dirty="0"/>
              <a:t>Sep</a:t>
            </a:r>
            <a:r>
              <a:rPr lang="en-US" dirty="0"/>
              <a:t>tember</a:t>
            </a:r>
            <a:r>
              <a:rPr dirty="0"/>
              <a:t> </a:t>
            </a:r>
            <a:r>
              <a:rPr lang="en-US" dirty="0"/>
              <a:t>8,</a:t>
            </a:r>
            <a:r>
              <a:rPr dirty="0"/>
              <a:t> </a:t>
            </a:r>
            <a:r>
              <a:rPr lang="en-US" dirty="0"/>
              <a:t>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2000" dirty="0"/>
              <a:t>Students spend excessive time hunting for trustworthy, course-aligned AI resources.</a:t>
            </a:r>
          </a:p>
          <a:p>
            <a:r>
              <a:rPr sz="2000" dirty="0"/>
              <a:t>Fragmented notes, mixed-quality online sources, and opaque ChatGPT prompts lead to inconsistent outcomes.</a:t>
            </a:r>
          </a:p>
          <a:p>
            <a:r>
              <a:rPr sz="2000" dirty="0"/>
              <a:t>Instructors need transparent, referenceable outputs that reduce plagiarism risk and surface sources.</a:t>
            </a:r>
          </a:p>
          <a:p>
            <a:r>
              <a:rPr sz="2000" dirty="0"/>
              <a:t>Goal: Build a just‑in‑time assistant that answers course questions using approved materials and cites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 &amp;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Primary users: Students in ITAI courses (study, labs, proposals).</a:t>
            </a:r>
          </a:p>
          <a:p>
            <a:r>
              <a:rPr sz="2000" dirty="0"/>
              <a:t>Secondary users: Instructors/TAs (rubrics, integrity, feedback).</a:t>
            </a:r>
          </a:p>
          <a:p>
            <a:r>
              <a:rPr sz="2000" dirty="0"/>
              <a:t>Stakeholders: Department, Accessibility services (inclusive design).</a:t>
            </a:r>
          </a:p>
          <a:p>
            <a:r>
              <a:rPr sz="2000" dirty="0"/>
              <a:t>Success depends on: Accurate retrieval, clear citations, low friction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000" dirty="0"/>
              <a:t>Corpus: Course docs (syllabi, rubrics, assignments), selected open references, instructor‑approved links.</a:t>
            </a:r>
          </a:p>
          <a:p>
            <a:r>
              <a:rPr sz="2000" dirty="0"/>
              <a:t>Tools: Python, </a:t>
            </a:r>
            <a:r>
              <a:rPr sz="2000" dirty="0" err="1"/>
              <a:t>Jupyter</a:t>
            </a:r>
            <a:r>
              <a:rPr sz="2000" dirty="0"/>
              <a:t>, vector DB (FAISS/Chroma), embeddings, LLM via API or local model.</a:t>
            </a:r>
          </a:p>
          <a:p>
            <a:r>
              <a:rPr sz="2000" dirty="0"/>
              <a:t>Compute: Laptop + optional </a:t>
            </a:r>
            <a:r>
              <a:rPr sz="2000" dirty="0" err="1"/>
              <a:t>Colab</a:t>
            </a:r>
            <a:r>
              <a:rPr sz="2000" dirty="0"/>
              <a:t>; small batch indexing; lightweight UI (Flask/</a:t>
            </a:r>
            <a:r>
              <a:rPr sz="2000" dirty="0" err="1"/>
              <a:t>FastAPI</a:t>
            </a:r>
            <a:r>
              <a:rPr sz="2000" dirty="0"/>
              <a:t> + simple frontend).</a:t>
            </a:r>
          </a:p>
          <a:p>
            <a:r>
              <a:rPr sz="2000" dirty="0"/>
              <a:t>Governance: Source allow‑list; versioned datasets; citation policy.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000" dirty="0"/>
              <a:t>Ingestion &amp; Chunking: PDFs/HTML/MD → clean → chunk (semantic, structure‑aware).</a:t>
            </a:r>
          </a:p>
          <a:p>
            <a:r>
              <a:rPr sz="2000" dirty="0"/>
              <a:t>Indexing: Embedding + vector search (FAISS/Chroma); metadata filters (course, week, doc type).</a:t>
            </a:r>
          </a:p>
          <a:p>
            <a:r>
              <a:rPr sz="2000" dirty="0"/>
              <a:t>Retrieval: Hybrid BM25 + dense; reranking for </a:t>
            </a:r>
            <a:r>
              <a:rPr sz="2000" dirty="0" err="1"/>
              <a:t>precision@k</a:t>
            </a:r>
            <a:r>
              <a:rPr sz="2000" dirty="0"/>
              <a:t>.</a:t>
            </a:r>
          </a:p>
          <a:p>
            <a:r>
              <a:rPr sz="2000" dirty="0"/>
              <a:t>Generation: Prompt templates enforcing citations; chain‑of‑thought disabled; answer + sources.</a:t>
            </a:r>
          </a:p>
          <a:p>
            <a:r>
              <a:rPr sz="2000" dirty="0"/>
              <a:t>Evaluation: Query set, labeled answers; metrics below; A/B on prompts.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Client UI → API → Retrieval (BM25+dense) → </a:t>
            </a:r>
            <a:r>
              <a:rPr sz="2000" dirty="0" err="1"/>
              <a:t>Reranker</a:t>
            </a:r>
            <a:r>
              <a:rPr sz="2000" dirty="0"/>
              <a:t> → LLM w/ citation guard → Answers + Sources</a:t>
            </a:r>
          </a:p>
          <a:p>
            <a:r>
              <a:rPr sz="2000" dirty="0"/>
              <a:t>Observability: logs for query, retrieved docs, latency; dataset version tags.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Data quality (noisy PDFs, mixed sources) → strict allow‑list, preprocessing, manual spot checks.</a:t>
            </a:r>
          </a:p>
          <a:p>
            <a:r>
              <a:rPr sz="2000" dirty="0"/>
              <a:t>Model/API limits → local fallback model; cache frequent queries; reduce context size.</a:t>
            </a:r>
          </a:p>
          <a:p>
            <a:r>
              <a:rPr sz="2000" dirty="0"/>
              <a:t>Schedule risk → weekly check‑ins; scope guard; early technical spikes.</a:t>
            </a:r>
          </a:p>
          <a:p>
            <a:r>
              <a:rPr sz="2000" dirty="0"/>
              <a:t>Hallucinations → citation‑required prompts; refuse outside‑corpus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Academic integrity: Always cite sources; provide links; disable hidden reasoning.</a:t>
            </a:r>
          </a:p>
          <a:p>
            <a:r>
              <a:rPr sz="2000" dirty="0"/>
              <a:t>Bias &amp; fairness: Diverse sources; document limitations; instructor review.</a:t>
            </a:r>
          </a:p>
          <a:p>
            <a:r>
              <a:rPr sz="2000" dirty="0"/>
              <a:t>Privacy/IP: Respect copyright; share only within class; no personal data ingestion.</a:t>
            </a:r>
          </a:p>
          <a:p>
            <a:r>
              <a:rPr sz="2000" dirty="0"/>
              <a:t>Transparency: ‘What I used and why’ panel in UI; reproducible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Roles (Draft)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Oscar Cortez – PM &amp; Evaluation lead</a:t>
            </a:r>
          </a:p>
          <a:p>
            <a:r>
              <a:rPr sz="2000" dirty="0"/>
              <a:t>[Name] – Retrieval/Indexing</a:t>
            </a:r>
          </a:p>
          <a:p>
            <a:r>
              <a:rPr sz="2000" dirty="0"/>
              <a:t>[Name] – Frontend &amp; UX</a:t>
            </a:r>
          </a:p>
          <a:p>
            <a:r>
              <a:rPr sz="2000" dirty="0"/>
              <a:t>[Name] – Data curation &amp; QA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 (for Proposal &amp; Beyond)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Th</a:t>
            </a:r>
            <a:r>
              <a:rPr lang="en-US" sz="2000" dirty="0"/>
              <a:t>e</a:t>
            </a:r>
            <a:r>
              <a:rPr sz="2000" dirty="0"/>
              <a:t> Proposal (Week 3)</a:t>
            </a:r>
          </a:p>
          <a:p>
            <a:r>
              <a:rPr sz="2000" dirty="0"/>
              <a:t>One‑page Proposal PDF with problem, approach, timeline, risks</a:t>
            </a:r>
          </a:p>
          <a:p>
            <a:r>
              <a:rPr sz="2000" dirty="0"/>
              <a:t>Tech Spike: minimal RAG demo answering 3–5 course questions with citations</a:t>
            </a:r>
          </a:p>
          <a:p>
            <a:r>
              <a:rPr sz="2000" dirty="0"/>
              <a:t>Final: working prototype, documentation, evaluation report, and short video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(to be finalized)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Course materials (syllabi, rubrics, assignment docs)</a:t>
            </a:r>
          </a:p>
          <a:p>
            <a:r>
              <a:rPr sz="2000" dirty="0"/>
              <a:t>RAG best practices (academic/industry)</a:t>
            </a:r>
          </a:p>
          <a:p>
            <a:r>
              <a:rPr sz="2000" dirty="0"/>
              <a:t>Institution policies on academic integrity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167</TotalTime>
  <Words>625</Words>
  <Application>Microsoft Office PowerPoint</Application>
  <PresentationFormat>On-screen Show (4:3)</PresentationFormat>
  <Paragraphs>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Mona Sans</vt:lpstr>
      <vt:lpstr>Parcel</vt:lpstr>
      <vt:lpstr>AI Course Copilot: RAG-Powered Study &amp; Project Assistant</vt:lpstr>
      <vt:lpstr>Problem Statement</vt:lpstr>
      <vt:lpstr>Users &amp; Stakeholders</vt:lpstr>
      <vt:lpstr>Data &amp; Resources</vt:lpstr>
      <vt:lpstr>Technical Approach</vt:lpstr>
      <vt:lpstr>System Architecture (Overview)</vt:lpstr>
      <vt:lpstr>Risks &amp; Mitigations</vt:lpstr>
      <vt:lpstr>Ethical Considerations</vt:lpstr>
      <vt:lpstr>Team &amp; Roles (Draft)</vt:lpstr>
      <vt:lpstr>Deliverables (for Proposal &amp; Beyond)</vt:lpstr>
      <vt:lpstr>References (to be finalized)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01 – Project Proposal (Week 3)</dc:title>
  <dc:subject>Project Proposal Presentation</dc:subject>
  <dc:creator>Oscar Cortez</dc:creator>
  <cp:keywords/>
  <dc:description>Remember to review metadata before submitting.</dc:description>
  <cp:lastModifiedBy>Oscar Cortez</cp:lastModifiedBy>
  <cp:revision>3</cp:revision>
  <dcterms:created xsi:type="dcterms:W3CDTF">2013-01-27T09:14:16Z</dcterms:created>
  <dcterms:modified xsi:type="dcterms:W3CDTF">2025-09-09T14:45:00Z</dcterms:modified>
  <cp:category>TAI-2277 Artificial Intelligence Resource</cp:category>
</cp:coreProperties>
</file>